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916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FD3FF"/>
                </a:solidFill>
                <a:latin typeface="Calibri"/>
              </a:defRPr>
            </a:pPr>
            <a:r>
              <a:t>HCL GUVI Hackathon — Review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Paperless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Calibri"/>
              </a:defRPr>
            </a:pPr>
            <a:r>
              <a:t>51 — E-Signature Platform  •  Secure &amp; efficient digital signing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0195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Java 17  •  Swing  •  JDBC (H2)  •  JUnit 4  •  Desktop — no server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914400"/>
            <a:ext cx="31546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02412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17043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1F2937"/>
                </a:solidFill>
                <a:latin typeface="Calibri"/>
              </a:defRPr>
            </a:pPr>
            <a:r>
              <a:t>abhishek.25scse1010473@galgotiasuniversity.ac.in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42646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Calibri"/>
              </a:defRPr>
            </a:pPr>
            <a:r>
              <a:t>Stack: Java / H2 / Swing / JDBC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5910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Calibri"/>
              </a:defRPr>
            </a:pPr>
            <a:r>
              <a:t>Run:  run.bat  (JDK 17+ only)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75564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1A73E8"/>
                </a:solidFill>
                <a:latin typeface="Calibri"/>
              </a:defRPr>
            </a:pPr>
            <a:r>
              <a:t>Demo logins on login screen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95728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Agenda:  Problem  →  Architecture  →  Database  →  UI Demos  →  Rubric  →  Live Steps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788920"/>
            <a:ext cx="37947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" y="2788920"/>
            <a:ext cx="3794760" cy="29260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843784"/>
            <a:ext cx="3465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3172968"/>
            <a:ext cx="3465576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E-signature platform — eliminates physical signatures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3 roles: Administrator / Signer / Reviewer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6 functionalities + 3 dashboards (as per brief)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Every sign &amp; review is audited for traceability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Runs offline: H2 file DB, no MySQL/Tomcat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788920"/>
            <a:ext cx="379476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400" y="2788920"/>
            <a:ext cx="379476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7992" y="2843784"/>
            <a:ext cx="3465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Review 1 focus (asked)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3172968"/>
            <a:ext cx="3465576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Project structure  ✓  layered, .vscode ready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Database design  ✓  6 tables + ER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Database connectivity  ✓  JDBC working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UI/UX — aesthetics &amp; responsiveness  ✓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Code quality — modular, commented,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2788920"/>
            <a:ext cx="35204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20" y="2788920"/>
            <a:ext cx="3520440" cy="292608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843784"/>
            <a:ext cx="3191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Quick verify (30 sec)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3172968"/>
            <a:ext cx="3191256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run.bat  →  Login (admin@paperless.com / admin123)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Admin: users / permissions / metrics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Swap to alice@... → New Doc → Sign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Swap to bob@... → View Logs → Review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test.bat → 15/15 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35508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>
                <a:solidFill>
                  <a:srgbClr val="6B7280"/>
                </a:solidFill>
                <a:latin typeface="Calibri"/>
              </a:defRPr>
            </a:pPr>
            <a:r>
              <a:t>© 2024 GUVI Geek Network — PS 51 • Submission for Review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Problem &amp; User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BFD3FF"/>
                </a:solidFill>
                <a:latin typeface="Calibri"/>
              </a:defRPr>
            </a:pPr>
            <a:r>
              <a:t>Why paperless + who uses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01168"/>
            <a:ext cx="1783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D47A1"/>
                </a:solidFill>
                <a:latin typeface="Calibri"/>
              </a:defRPr>
            </a:pPr>
            <a:r>
              <a:t>PS 51  •  Review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05840"/>
            <a:ext cx="5715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005840"/>
            <a:ext cx="5715000" cy="29260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060704"/>
            <a:ext cx="53858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Summary /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389888"/>
            <a:ext cx="5385816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Manual signatures → delays, physical storage, weak traceability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Goal: secure, efficient electronic signing for digital docs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Outcomes: faster turnaround, reduced paper, verifiable audit trail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005840"/>
            <a:ext cx="54864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005840"/>
            <a:ext cx="548640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0607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User Types (from brief)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389888"/>
            <a:ext cx="5157216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Administrator — manages platform, roles &amp; access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Signer — signs digital documents electronically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Reviewer — verifies authenticity &amp;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517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Calibri"/>
              </a:defRPr>
            </a:pPr>
            <a:r>
              <a:t>Functionalities → Implementation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999232"/>
            <a:ext cx="37947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" y="2999232"/>
            <a:ext cx="3794760" cy="292608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3054096"/>
            <a:ext cx="3465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For Administrator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3383280"/>
            <a:ext cx="3465576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User Mgmt — CRUD users/roles → confirm dialog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Access Control — role-based permission matrix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System Maintenance — status &amp; metrics +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2999232"/>
            <a:ext cx="37947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2999232"/>
            <a:ext cx="379476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054096"/>
            <a:ext cx="3465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For 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3383280"/>
            <a:ext cx="3465576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Document Signing — pick doc + template → hash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Signature Mgmt — create / delete templates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Signed Docs — table of all signatures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99232"/>
            <a:ext cx="379476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49640" y="2999232"/>
            <a:ext cx="3794760" cy="292608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14232" y="3054096"/>
            <a:ext cx="34655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For Reviewer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383280"/>
            <a:ext cx="3465576" cy="1444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Document Review — signed docs + sig/audit logs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Compliance Check — COMPLIANT / NON / PENDING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Review Reports — table + counts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138928"/>
            <a:ext cx="113842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1480" y="5138928"/>
            <a:ext cx="11384280" cy="292608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93792"/>
            <a:ext cx="11055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Dashboards (expected in brief) → delivered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5522976"/>
            <a:ext cx="11055096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Admin: user table + graphical permissions + metrics  |  Signer: signing interface + template tools + signed table  |  Reviewer: signed docs + logs table + compliance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Architecture &amp; 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BFD3FF"/>
                </a:solidFill>
                <a:latin typeface="Calibri"/>
              </a:defRPr>
            </a:pPr>
            <a:r>
              <a:t>Layered, UI-agnostic — Swing today, Servlet/JSP tomorrow without touching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01168"/>
            <a:ext cx="1783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D47A1"/>
                </a:solidFill>
                <a:latin typeface="Calibri"/>
              </a:defRPr>
            </a:pPr>
            <a:r>
              <a:t>PS 51  •  Review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05840"/>
            <a:ext cx="113842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170432"/>
            <a:ext cx="128016" cy="329184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207008"/>
            <a:ext cx="10607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F2937"/>
                </a:solidFill>
                <a:latin typeface="Calibri"/>
              </a:defRPr>
            </a:pPr>
            <a:r>
              <a:t>UI  —  LoginFrame + Admin / Signer / Reviewer Dashboards  +  UIStyle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128016" cy="329184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682496"/>
            <a:ext cx="10607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F2937"/>
                </a:solidFill>
                <a:latin typeface="Calibri"/>
              </a:defRPr>
            </a:pPr>
            <a:r>
              <a:t>Service  —  Auth · User · Document · Signature · Review  (validation + async audit + collections)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21408"/>
            <a:ext cx="128016" cy="329184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57984"/>
            <a:ext cx="10607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F2937"/>
                </a:solidFill>
                <a:latin typeface="Calibri"/>
              </a:defRPr>
            </a:pPr>
            <a:r>
              <a:t>DAO  —  GenericDAO&lt;T,K&gt;  ·  UserDAO  ·  DocumentDAO  ·  SignatureDAO  ·  TemplateDAO  ·  AuditDAO  ·  ReviewDAO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596896"/>
            <a:ext cx="128016" cy="329184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633472"/>
            <a:ext cx="10607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1F2937"/>
                </a:solidFill>
                <a:latin typeface="Calibri"/>
              </a:defRPr>
            </a:pPr>
            <a:r>
              <a:t>DB  —  DBUtil  →  H2 file  ./data/paperless  (JDBC: DriverManager + PreparedStatement + ResultSet)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461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>
                <a:solidFill>
                  <a:srgbClr val="6B7280"/>
                </a:solidFill>
                <a:latin typeface="Calibri"/>
              </a:defRPr>
            </a:pPr>
            <a:r>
              <a:t>Build:  javac --release 17 -cp lib/* -d bin  •  Run:  java -cp bin;lib/* App  •  VS Code: .vscode/settings.json includes src +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118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Calibri"/>
              </a:defRPr>
            </a:pPr>
            <a:r>
              <a:t>Package 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Calibri"/>
              </a:defRPr>
            </a:pPr>
            <a:r>
              <a:t>Key design choices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950208"/>
            <a:ext cx="56692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1480" y="3950208"/>
            <a:ext cx="5669280" cy="29260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4005072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src/ layout (43 classes)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4334256"/>
            <a:ext cx="5340096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App.java — init DB (DDL + seed) → Login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model/ — Auditable, BaseEntity, 6 entities, 3 enums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exception/ — PaperlessException hierarchy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util/ — DBUtil, PasswordUtil, Validator, AsyncExecutor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dao/ — 6 DAOs (Generic),  service/ — 5 services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ui/ — UIStyle + 3 dashboards + login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test/ — PaperlessTest (15)  |  lib/ — H2 + JUnit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3950208"/>
            <a:ext cx="54864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5080" y="3950208"/>
            <a:ext cx="548640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40050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Why Swing + H2 for Review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334256"/>
            <a:ext cx="5157216" cy="2130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No Tomcat/MySQL install → any evaluator runs run.bat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Pure JDK 17 — satisfies JDBC rubric directly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Swap DB: change one constant in DBUtil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Swap UI: keep service/dao/model → add Servlets/JSP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All DAOs use PreparedStatement + try-with-resources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Async audit never blocks UI thread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Database Design — H2 + JDBC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BFD3FF"/>
                </a:solidFill>
                <a:latin typeface="Calibri"/>
              </a:defRPr>
            </a:pPr>
            <a:r>
              <a:t>6 tables, FKs, idempotent DDL, seeded demo accounts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01168"/>
            <a:ext cx="1783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D47A1"/>
                </a:solidFill>
                <a:latin typeface="Calibri"/>
              </a:defRPr>
            </a:pPr>
            <a:r>
              <a:t>PS 51  •  Review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87552"/>
            <a:ext cx="69037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78992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Calibri"/>
              </a:defRPr>
            </a:pPr>
            <a:r>
              <a:t>Tables — DBUtil.initDatabase()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6304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618488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name, email UNIQUE, password_hash, role, active, created_at, updated_at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12264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157984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documents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313432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title, content CLOB, file_path, status, owner_id FK→users, compliance_status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852928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signature_templates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008376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name, signature_data CLOB, user_id FK→users, is_default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502152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547872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signatures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3703320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document_id FK→docs, signer_id FK→users, template_id, hash, signed_at, 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97096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242816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audit_logs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398264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action, user_id, document_id, details, timestamp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6446520" cy="566928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937760"/>
            <a:ext cx="1417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D47A1"/>
                </a:solidFill>
                <a:latin typeface="Calibri"/>
              </a:defRPr>
            </a:pPr>
            <a:r>
              <a:t>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093208"/>
            <a:ext cx="6263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20" b="0">
                <a:solidFill>
                  <a:srgbClr val="6B7280"/>
                </a:solidFill>
                <a:latin typeface="Calibri"/>
              </a:defRPr>
            </a:pPr>
            <a:r>
              <a:t>id PK, document_id FK→docs, reviewer_id FK→users, comments, compliance_status, approved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987552"/>
            <a:ext cx="42519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43800" y="987552"/>
            <a:ext cx="4251960" cy="29260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08392" y="1042416"/>
            <a:ext cx="3922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ER (simplified)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8392" y="1371600"/>
            <a:ext cx="3922776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users 1 — N documents (owner_id)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users 1 — N signature_templates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documents 1 — N signatures / audit_logs / reviews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users 1 — N signatures (signer) + reviews (reviewer)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800" y="2834640"/>
            <a:ext cx="42519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43800" y="2834640"/>
            <a:ext cx="425196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08392" y="2889504"/>
            <a:ext cx="3922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Seed (if empty)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92" y="3218688"/>
            <a:ext cx="3922776" cy="1216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admin@paperless.com / admin123 → ADMINISTRATOR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alice@paperless.com / signer123 → SIGNER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bob@paperless.com / reviewer123 → REVIEWER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JDBC URL: jdbc:h2:file:./data/paperless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43800" y="4645152"/>
            <a:ext cx="42519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43800" y="4645152"/>
            <a:ext cx="4251960" cy="292608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08392" y="4700016"/>
            <a:ext cx="3922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JDBC touchpoints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8392" y="5029200"/>
            <a:ext cx="3922776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DriverManager.getConnection(URL, sa, "")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Class.forName("org.h2.Driver")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PreparedStatement + ResultSet mapping (every DAO)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try-with-resources everywhere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98932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>
                <a:solidFill>
                  <a:srgbClr val="6B7280"/>
                </a:solidFill>
                <a:latin typeface="Calibri"/>
              </a:defRPr>
            </a:pPr>
            <a:r>
              <a:t>Full DDL + Mermaid ER → docs/03-database-design.md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UI / UX — Login + 3 Role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BFD3FF"/>
                </a:solidFill>
                <a:latin typeface="Calibri"/>
              </a:defRPr>
            </a:pPr>
            <a:r>
              <a:t>Aesthetic, responsive — role-color headers, consistent cards &amp; 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01168"/>
            <a:ext cx="1783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D47A1"/>
                </a:solidFill>
                <a:latin typeface="Calibri"/>
              </a:defRPr>
            </a:pPr>
            <a:r>
              <a:t>PS 51  •  Review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87552"/>
            <a:ext cx="113842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60704"/>
            <a:ext cx="10972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Calibri"/>
              </a:defRPr>
            </a:pPr>
            <a:r>
              <a:t>Theme — UIStyle.java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225296"/>
            <a:ext cx="384048" cy="164592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243584"/>
            <a:ext cx="1691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Admin #0D47A1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1225296"/>
            <a:ext cx="384048" cy="164592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243584"/>
            <a:ext cx="1691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Signer #0F6B3A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225296"/>
            <a:ext cx="384048" cy="164592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1243584"/>
            <a:ext cx="1691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Reviewer #4C1D95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225296"/>
            <a:ext cx="384048" cy="164592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0" y="1243584"/>
            <a:ext cx="1691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Primary #1A73E8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225296"/>
            <a:ext cx="384048" cy="164592"/>
          </a:xfrm>
          <a:prstGeom prst="round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12680" y="1243584"/>
            <a:ext cx="16916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BG #F5F7FB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121615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Fonts: Segoe UI  •  Cards: rounded + border  •  Tables: header #EEF2FF, row 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1682496"/>
            <a:ext cx="2788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1682496"/>
            <a:ext cx="2788920" cy="292608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1737360"/>
            <a:ext cx="24597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LoginFrame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2066544"/>
            <a:ext cx="2459736" cy="3959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Email + Password (demo hints visible)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AuthService.login() → role redirect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Enter key = login, errors inline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Footer: © GUVI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7560" y="1682496"/>
            <a:ext cx="2788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37560" y="1682496"/>
            <a:ext cx="2788920" cy="292608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02152" y="1737360"/>
            <a:ext cx="24597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Administrator (blue)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2152" y="2066544"/>
            <a:ext cx="2459736" cy="3959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Header: name + email + Logout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User Mgmt: sortable table + Add/Edit/Delete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Access Control: counts by role + matrix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System: users/audits/JVM/DB + log viewer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682496"/>
            <a:ext cx="2788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1682496"/>
            <a:ext cx="2788920" cy="292608"/>
          </a:xfrm>
          <a:prstGeom prst="roundRect">
            <a:avLst/>
          </a:prstGeom>
          <a:solidFill>
            <a:srgbClr val="0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1737360"/>
            <a:ext cx="24597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Signer (green)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066544"/>
            <a:ext cx="2459736" cy="3959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Document Signing: all docs + New + Sign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  → pick template → hash → SIGNED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Signature Mgmt: templates CRUD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Signed Docs: signatures 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1682496"/>
            <a:ext cx="26060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89720" y="1682496"/>
            <a:ext cx="2606040" cy="292608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54312" y="1737360"/>
            <a:ext cx="2276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Reviewer (purple)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066544"/>
            <a:ext cx="2276856" cy="3959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 Review: signed docs + reviews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View Sig Logs / Audit per doc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Review dialog: comments + status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Compliance: counts + reports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263640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0">
                <a:solidFill>
                  <a:srgbClr val="6B7280"/>
                </a:solidFill>
                <a:latin typeface="Calibri"/>
              </a:defRPr>
            </a:pPr>
            <a:r>
              <a:t>10 screenshots to capture → docs/05-ui-flows.md  •  All flows validated; data created via: New Doc → Template → Sign →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Rubric Mapping &amp; Live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11480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BFD3FF"/>
                </a:solidFill>
                <a:latin typeface="Calibri"/>
              </a:defRPr>
            </a:pPr>
            <a:r>
              <a:t>What Review 1 asks → where it is → how to check in 30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01168"/>
            <a:ext cx="1783080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0" y="237744"/>
            <a:ext cx="1783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D47A1"/>
                </a:solidFill>
                <a:latin typeface="Calibri"/>
              </a:defRPr>
            </a:pPr>
            <a:r>
              <a:t>PS 51  •  Review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987552"/>
            <a:ext cx="72694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78992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F2937"/>
                </a:solidFill>
                <a:latin typeface="Calibri"/>
              </a:defRPr>
            </a:pPr>
            <a:r>
              <a:t>Desktop track — 33 marks (also maps to Web track)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B7280"/>
                </a:solidFill>
                <a:latin typeface="Calibri"/>
              </a:defRPr>
            </a:pPr>
            <a:r>
              <a:t>#  Criterion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38988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6B7280"/>
                </a:solidFill>
                <a:latin typeface="Calibri"/>
              </a:defRPr>
            </a:pPr>
            <a:r>
              <a:t>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89888"/>
            <a:ext cx="2788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B7280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91056"/>
            <a:ext cx="699516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8249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1  OOP (Poly/Inher/Ex/Interfaces)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682496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8249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Auditable, BaseEntity, 6 models, exceptions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21408"/>
            <a:ext cx="6995160" cy="438912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2128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2  Collections &amp; Generics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221284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221284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GenericDAO&lt;T,K&gt;, groupingBy, Comparator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651760"/>
            <a:ext cx="699516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74320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3  Multithreading &amp;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4448" y="274320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74320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AsyncExecutor + synchronized + 5-thread 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82111"/>
            <a:ext cx="6995160" cy="438912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73551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4  Classes for DB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3273551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273551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6 DAOs + 5 Services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712463"/>
            <a:ext cx="699516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3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5  DB Connectivity (JDBC)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4448" y="3803903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3803903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DBUtil + DriverManager + PreparedStatement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242816"/>
            <a:ext cx="6995160" cy="438912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33425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80" b="0">
                <a:solidFill>
                  <a:srgbClr val="1F2937"/>
                </a:solidFill>
                <a:latin typeface="Calibri"/>
              </a:defRPr>
            </a:pPr>
            <a:r>
              <a:t>6  JDBC schema + CRUD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4334256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1">
                <a:solidFill>
                  <a:srgbClr val="1A73E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3342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6B7280"/>
                </a:solidFill>
                <a:latin typeface="Calibri"/>
              </a:defRPr>
            </a:pPr>
            <a:r>
              <a:t>DDL 6 tables + FK + seed + ResultSet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956048"/>
            <a:ext cx="6949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0F6B3A"/>
                </a:solidFill>
                <a:latin typeface="Calibri"/>
              </a:defRPr>
            </a:pPr>
            <a:r>
              <a:t>Gold: matches brief's dashboards &amp; traceability — not only rubric items.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257800"/>
            <a:ext cx="6949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6B7280"/>
                </a:solidFill>
                <a:latin typeface="Calibri"/>
              </a:defRPr>
            </a:pPr>
            <a:r>
              <a:t>Details → docs/04-rubric-mapping.md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987552"/>
            <a:ext cx="3977639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63840" y="987552"/>
            <a:ext cx="3977639" cy="292608"/>
          </a:xfrm>
          <a:prstGeom prst="roundRect">
            <a:avLst/>
          </a:prstGeom>
          <a:solidFill>
            <a:srgbClr val="4C1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28432" y="1042416"/>
            <a:ext cx="364845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Verify live (no installs)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8432" y="1371600"/>
            <a:ext cx="3648455" cy="4142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1) run.bat  — compiles 43 classes, opens Login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2) admin@paperless.com / admin123 → check tabs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3) alice@paperless.com / signer123 → New Doc → Create Template → Sign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4) bob@paperless.com / reviewer123 → View Logs → Review → compliance counts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5) test.bat → 15/15 OK (real H2 file DB)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—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Docs: docs/0*.md  •  ER in 03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Switch DB: one constant in DBUtil</a:t>
            </a:r>
          </a:p>
          <a:p>
            <a:pPr algn="l">
              <a:lnSpc>
                <a:spcPts val="1400"/>
              </a:lnSpc>
              <a:spcAft>
                <a:spcPts val="300"/>
              </a:spcAft>
              <a:defRPr sz="750">
                <a:solidFill>
                  <a:srgbClr val="1F2937"/>
                </a:solidFill>
                <a:latin typeface="Calibri"/>
              </a:defRPr>
            </a:pPr>
            <a:r>
              <a:t>• Switch to Servlets: keep service/dao/model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5806440"/>
            <a:ext cx="11384280" cy="566928"/>
          </a:xfrm>
          <a:prstGeom prst="round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870448"/>
            <a:ext cx="6858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FFFFF"/>
                </a:solidFill>
                <a:latin typeface="Calibri"/>
              </a:defRPr>
            </a:pPr>
            <a:r>
              <a:t>Thank you  —  ready for Review 1  •  Code quality: layered, commented, modular, tested  •  All deliverables included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590702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BFD3FF"/>
                </a:solidFill>
                <a:latin typeface="Calibri"/>
              </a:defRPr>
            </a:pPr>
            <a:r>
              <a:t>Submit: this PPTX + GitHub link (public) +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