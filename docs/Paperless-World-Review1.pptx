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965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3FF"/>
                </a:solidFill>
                <a:latin typeface="Calibri"/>
              </a:defRPr>
            </a:pPr>
            <a:r>
              <a:t>HCL GUVI Hackathon —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Paperless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51 — E-Signature Platform  •  Secure &amp; efficient digital signing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Java 17  •  Swing  •  JDBC (H2)  •  JUnit 4  •  Desktop — no server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868680"/>
            <a:ext cx="32461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98755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188720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Calibri"/>
              </a:defRPr>
            </a:pPr>
            <a:r>
              <a:t>abhishek.25scse1010473@galgotiasuniversity.ac.in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44475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Stack: Java / H2 / Swing / JDBC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645920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Run:  run.bat  (JDK 17+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883664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Demo logins visible on login screen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788920"/>
            <a:ext cx="37947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2788920"/>
            <a:ext cx="379476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6207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291840"/>
            <a:ext cx="33924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E-signature platform — eliminates physical signatures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3 roles: Administrator / Signer / Reviewer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6 functionalities + 3 dashboards (as per brief)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Every sign &amp; review is audited for traceability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Runs offline: H2 file DB, no MySQL/Tomcat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788920"/>
            <a:ext cx="37947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2788920"/>
            <a:ext cx="3794760" cy="384048"/>
          </a:xfrm>
          <a:prstGeom prst="roundRect">
            <a:avLst/>
          </a:prstGeom>
          <a:solidFill>
            <a:srgbClr val="0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86207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Review 1 focus (asked)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291840"/>
            <a:ext cx="33924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Project structure  ✓  layered, .vscode ready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Database design  ✓  6 tables + ER diagram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Database connectivity  ✓  JDBC working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UI/UX — aesthetics &amp; responsiveness  ✓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Code quality — modular, commented, tested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788920"/>
            <a:ext cx="35204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75320" y="2788920"/>
            <a:ext cx="3520440" cy="384048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86207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Quick verify (30 sec)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3291840"/>
            <a:ext cx="31181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run.bat  →  Login (admin / admin123)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Admin: users / permissions / metrics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Signer: New Doc → Sign with template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Reviewer: View Logs → Review → Compliance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test.bat → 15/15 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Agenda:  Problem  →  User Types  →  Admin  →  Signer  →  Reviewer  →  Architecture  →  Database  →  UI/UX  →  Rubric  → 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© 2024 GUVI Geek Network — PS 51 • Submission for Review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3FF"/>
                </a:solidFill>
                <a:latin typeface="Calibri"/>
              </a:defRPr>
            </a:pPr>
            <a:r>
              <a:t>Why Paperless World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74320"/>
            <a:ext cx="2057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32918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47A1"/>
                </a:solidFill>
                <a:latin typeface="Calibri"/>
              </a:defRPr>
            </a:pPr>
            <a:r>
              <a:t>PS 51  •  Review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5760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576072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37360"/>
            <a:ext cx="535838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Manual signatures cause delays &amp; need physical storage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Weak traceability — hard to verify who signed when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High turnaround time, paper costs, security gaps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Need: secure electronic alternative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3444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234440"/>
            <a:ext cx="5394960" cy="384048"/>
          </a:xfrm>
          <a:prstGeom prst="roundRect">
            <a:avLst/>
          </a:prstGeom>
          <a:solidFill>
            <a:srgbClr val="0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075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Objectives &amp;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737360"/>
            <a:ext cx="499262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Streamline signing of digital documents electronically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Reduce / eliminate need for physical signatures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Improve turnaround time &amp; operational efficiency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Enhance security &amp; traceability via audit 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49039"/>
            <a:ext cx="11384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Calibri"/>
              </a:defRPr>
            </a:pPr>
            <a:r>
              <a:t>Summary — as per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Develop an e-signature platform to facilitate secure and efficient signing of digital documents, eliminating the need for physical signatures.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The platform will reduce dependence on paper, speed up approvals, and provide a verifiable audit trail for every signature and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User Types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3FF"/>
                </a:solidFill>
                <a:latin typeface="Calibri"/>
              </a:defRPr>
            </a:pPr>
            <a:r>
              <a:t>3 roles — clear responsibilities &amp; permissions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74320"/>
            <a:ext cx="2057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32918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47A1"/>
                </a:solidFill>
                <a:latin typeface="Calibri"/>
              </a:defRPr>
            </a:pPr>
            <a:r>
              <a:t>PS 51  •  Review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794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379476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298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Administrator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1051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Manages platform, user roles &amp;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Login: role-based dashboard redirect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234440"/>
            <a:ext cx="3794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234440"/>
            <a:ext cx="3794760" cy="502920"/>
          </a:xfrm>
          <a:prstGeom prst="roundRect">
            <a:avLst/>
          </a:prstGeom>
          <a:solidFill>
            <a:srgbClr val="0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3258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298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6B3A"/>
                </a:solidFill>
                <a:latin typeface="Calibri"/>
              </a:defRPr>
            </a:pPr>
            <a:r>
              <a:t>Signer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81051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Signs digital documents electronically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Login: role-based dashboard redirect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1234440"/>
            <a:ext cx="3794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49640" y="1234440"/>
            <a:ext cx="3794760" cy="50292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3258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298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1D95"/>
                </a:solidFill>
                <a:latin typeface="Calibri"/>
              </a:defRPr>
            </a:pPr>
            <a:r>
              <a:t>Reviewer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81051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Reviews signed docs for authenticity 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286000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Login: role-based dashboard redirect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703320"/>
            <a:ext cx="11384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" y="3703320"/>
            <a:ext cx="11384280" cy="384048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776472"/>
            <a:ext cx="11018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Access Control at a Glance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206240"/>
            <a:ext cx="109819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Administrator → Full: User Mgmt, Access Control, System Maintenance, Audit viewer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Signer → Document Signing, Signature Templates, Signed Documents list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Reviewer → Document Review (signed docs + logs), Compliance Check &amp; Reports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349240"/>
            <a:ext cx="11384280" cy="777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4681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47A1"/>
                </a:solidFill>
                <a:latin typeface="Calibri"/>
              </a:defRPr>
            </a:pPr>
            <a:r>
              <a:t>Demo accounts seeded on first run:   admin@paperless.com / admin123   •   alice@paperless.com / signer123   •   bob@paperless.com / reviewer123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Administrator — Functionalities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3FF"/>
                </a:solidFill>
                <a:latin typeface="Calibri"/>
              </a:defRPr>
            </a:pPr>
            <a:r>
              <a:t>Manages users, permissions &amp; system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74320"/>
            <a:ext cx="2057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32918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47A1"/>
                </a:solidFill>
                <a:latin typeface="Calibri"/>
              </a:defRPr>
            </a:pPr>
            <a:r>
              <a:t>PS 51  •  Review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7947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3794760" cy="38404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37360"/>
            <a:ext cx="3392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Input: user details, roles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Output: confirmation on create / update / delete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Function: full CRUD — AdminDashboard table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Validation: email format, password ≥ 6 chars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7947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379476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0759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37360"/>
            <a:ext cx="3392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Input: role-based access permissions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Output: access control status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Function: assign &amp; manage permissions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UI: graphical cards by role + 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234440"/>
            <a:ext cx="3520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1234440"/>
            <a:ext cx="3520440" cy="384048"/>
          </a:xfrm>
          <a:prstGeom prst="roundRect">
            <a:avLst/>
          </a:prstGeom>
          <a:solidFill>
            <a:srgbClr val="0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30759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System 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737360"/>
            <a:ext cx="31181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Input: system settings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Output: system status reports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Function: health &amp; performance metrics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JVM memory, auditors, DB path, status ● Operational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94760"/>
            <a:ext cx="11384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Calibri"/>
              </a:defRPr>
            </a:pPr>
            <a:r>
              <a:t>Admin Dashboard — 3 tabs (with aesthetics)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519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Header: dark blue (#0D47A1) + user badge + Logout — consistent across roles with color coding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User Mgmt tab: sortable table (ID, Name, Email, Role, Active) + Add / Edit / Delete / Refresh dialogs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Access Control tab: role count cards + permission matrix (text) — data from UserService.countByRole()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System tab: metrics (users, audits, JVM, processors) +  View Audit Logs dialog (full table)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Signer — Functionalities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3FF"/>
                </a:solidFill>
                <a:latin typeface="Calibri"/>
              </a:defRPr>
            </a:pPr>
            <a:r>
              <a:t>Creates, signs and tracks digital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74320"/>
            <a:ext cx="2057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32918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47A1"/>
                </a:solidFill>
                <a:latin typeface="Calibri"/>
              </a:defRPr>
            </a:pPr>
            <a:r>
              <a:t>PS 51  •  Review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7947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3794760" cy="384048"/>
          </a:xfrm>
          <a:prstGeom prst="roundRect">
            <a:avLst/>
          </a:prstGeom>
          <a:solidFill>
            <a:srgbClr val="0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Document Signing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37360"/>
            <a:ext cx="33924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Input: digital document + signature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Output: confirmation of successful signing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Flow: pick doc → choose template → hash → SIGNED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Async audit: SIGN_DOCUMENT event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7947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379476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0759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Signature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37360"/>
            <a:ext cx="33924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Input: signature templates (styled text / base64)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Output: signature status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CRUD: create / delete templates per user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SignatureTemplate table — default flag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234440"/>
            <a:ext cx="35204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1234440"/>
            <a:ext cx="3520440" cy="384048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30759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Signed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737360"/>
            <a:ext cx="31181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Table listing signed docs &amp; their status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Columns: ID, Doc, Signer, Hash prefix, IP, Time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Source: signatures table (all signatures)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Refresh to see latest after signing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49039"/>
            <a:ext cx="11384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Calibri"/>
              </a:defRPr>
            </a:pPr>
            <a:r>
              <a:t>Signer Dashboard — 3 tabs (green header #0F6B3A)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Document Signing tab: all docs table (status, compliance, created) + New Document dialog (title + content) → PENDING_SIGNATURE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Signature Management tab: user's templates + Create Template dialog (name + styled data) → status feedback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Signed tab: signatures table — verifies hash + IP traceability; synchronized signDocument() ensures thread safety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Reviewer — Functionalities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3FF"/>
                </a:solidFill>
                <a:latin typeface="Calibri"/>
              </a:defRPr>
            </a:pPr>
            <a:r>
              <a:t>Verifies authenticity &amp; compliance of signed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74320"/>
            <a:ext cx="2057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32918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47A1"/>
                </a:solidFill>
                <a:latin typeface="Calibri"/>
              </a:defRPr>
            </a:pPr>
            <a:r>
              <a:t>PS 51  •  Review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5623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5623560" cy="384048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Document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37360"/>
            <a:ext cx="52212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Input: signed documents + signature logs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Output: review reports (approved / rejected)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Viewer: signed docs + per-doc sig &amp; audit logs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Action: Review Selected → dialog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4864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486400" cy="38404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075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Compliance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737360"/>
            <a:ext cx="50840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Input: compliance criteria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Output: compliance status (COMPLIANT / NON / PENDING)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Dashboard: counts + review reports table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Updates document compliance_status &amp; status → REVIEWED / 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49039"/>
            <a:ext cx="11384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Calibri"/>
              </a:defRPr>
            </a:pPr>
            <a:r>
              <a:t>Reviewer Dashboard — 2 tabs (purple header #4C1D95)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Document Review tab: top = signed docs, bottom = reviews  |  Buttons: View Sig Logs, View Audit, Review Selected, Refresh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Compliance tab: summary (COMPLIANT / NON / PENDING counts) + full review reports table — from ReviewService.complianceCounts()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Review dialog: comments + compliance dropdown + approved checkbox → async REVIEW audit + document update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Architecture &amp;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3FF"/>
                </a:solidFill>
                <a:latin typeface="Calibri"/>
              </a:defRPr>
            </a:pPr>
            <a:r>
              <a:t>Layered, UI-agnostic — Swing today, Servlets tomorrow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74320"/>
            <a:ext cx="2057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32918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47A1"/>
                </a:solidFill>
                <a:latin typeface="Calibri"/>
              </a:defRPr>
            </a:pPr>
            <a:r>
              <a:t>PS 51  •  Review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11384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146304" cy="329184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0817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UI  —  LoginFrame + Admin / Signer / Reviewer Dashboards  +  UIStyle (theme, colors, tables)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47088"/>
            <a:ext cx="146304" cy="32918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83664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Service  —  Auth · User · Document · Signature · Review  (validation + async audit + collections &amp; streams)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22576"/>
            <a:ext cx="146304" cy="329184"/>
          </a:xfrm>
          <a:prstGeom prst="roundRect">
            <a:avLst/>
          </a:prstGeom>
          <a:solidFill>
            <a:srgbClr val="0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59152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DAO  —  GenericDAO&lt;T,K&gt;  ·  6 DAOs (User, Document, Signature, Template, Audit, Review)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98064"/>
            <a:ext cx="146304" cy="329184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3464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DB  —  DBUtil  →  H2 file  ./data/paperless  (JDBC: DriverManager + PreparedStatement + ResultSet)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10881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Build:  javac --release 17 -cp lib/* -d bin  •  Run:  java -cp bin;lib/* App  •  VS Code: .vscode/settings.json → src + test + lib/**/*.jar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977639"/>
            <a:ext cx="5669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3977639"/>
            <a:ext cx="566928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50791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src/ layout — 43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480559"/>
            <a:ext cx="52669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App.java — init DB (DDL + seed) → LoginFrame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model/ — Auditable, BaseEntity, 6 entities, 3 enums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exception/ — PaperlessException hierarchy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util/ — DBUtil, PasswordUtil, Validator, AsyncExecutor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dao/ — 6 DAOs  |  service/ — 5 services  |  ui/ — 4 frames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test/ — PaperlessTest (15)  |  lib/ — H2 + JUnit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977639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3977639"/>
            <a:ext cx="5486400" cy="384048"/>
          </a:xfrm>
          <a:prstGeom prst="roundRect">
            <a:avLst/>
          </a:prstGeom>
          <a:solidFill>
            <a:srgbClr val="0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5079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Why Swing + H2 for Review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480559"/>
            <a:ext cx="508406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No Tomcat / MySQL install — any evaluator runs run.bat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Pure JDK 17 — satisfies JDBC rubric directly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Swap DB: one constant in DBUtil.java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Swap UI: keep service/dao/model → add Servlets/JSP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All DAOs: PreparedStatement + try-with-resources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950">
                <a:solidFill>
                  <a:srgbClr val="1F2937"/>
                </a:solidFill>
                <a:latin typeface="Calibri"/>
              </a:defRPr>
            </a:pPr>
            <a:r>
              <a:t>• AsyncExecutor pool — audit never blocks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Database Design — H2 + JDBC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3FF"/>
                </a:solidFill>
                <a:latin typeface="Calibri"/>
              </a:defRPr>
            </a:pPr>
            <a:r>
              <a:t>6 tables, FKs, idempotent DDL, seeded demo accounts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74320"/>
            <a:ext cx="2057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32918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47A1"/>
                </a:solidFill>
                <a:latin typeface="Calibri"/>
              </a:defRPr>
            </a:pPr>
            <a:r>
              <a:t>PS 51  •  Review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694944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Calibri"/>
              </a:defRPr>
            </a:pPr>
            <a:r>
              <a:t>Tables — DBUtil.initDatabase()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27632"/>
            <a:ext cx="6492240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47A1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47088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id PK, name, email UNIQUE, password_hash, role, active, timestamps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6492240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47A1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505456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id PK, title, content CLOB, file_path, status, owner_id FK,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44368"/>
            <a:ext cx="6492240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8094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47A1"/>
                </a:solidFill>
                <a:latin typeface="Calibri"/>
              </a:defRPr>
            </a:pPr>
            <a:r>
              <a:t>signature_templates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id PK, name, signature_data CLOB, user_id FK, is_default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02736"/>
            <a:ext cx="6492240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6393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47A1"/>
                </a:solidFill>
                <a:latin typeface="Calibri"/>
              </a:defRPr>
            </a:pPr>
            <a:r>
              <a:t>signatures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82219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id PK, document_id FK, signer_id FK, template_id, hash, signed_at, 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61104"/>
            <a:ext cx="6492240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2976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47A1"/>
                </a:solidFill>
                <a:latin typeface="Calibri"/>
              </a:defRPr>
            </a:pPr>
            <a:r>
              <a:t>audit_logs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480560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id PK, action, user_id, document_id, details, timestamp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19472"/>
            <a:ext cx="6492240" cy="5486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9560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47A1"/>
                </a:solidFill>
                <a:latin typeface="Calibri"/>
              </a:defRPr>
            </a:pPr>
            <a:r>
              <a:t>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138928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id PK, document_id FK, reviewer_id FK, comments, compliance, approved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1188720"/>
            <a:ext cx="4206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89520" y="1188720"/>
            <a:ext cx="420624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26187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ER — simplified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1691640"/>
            <a:ext cx="38039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users 1 — N documents (owner_id)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users 1 — N signature_templates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documents 1 — N signatures / audits / reviews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users 1 — N signatures + reviews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3017520"/>
            <a:ext cx="4206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89520" y="3017520"/>
            <a:ext cx="4206240" cy="384048"/>
          </a:xfrm>
          <a:prstGeom prst="roundRect">
            <a:avLst/>
          </a:prstGeom>
          <a:solidFill>
            <a:srgbClr val="0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09067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Seed (if empty)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3520440"/>
            <a:ext cx="38039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admin@paperless.com / admin123 → ADMINISTRATOR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alice@paperless.com / signer123 → SIGNER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bob@paperless.com / reviewer123 → REVIEWER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URL: jdbc:h2:file:./data/paperless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4846320"/>
            <a:ext cx="4206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89520" y="4846320"/>
            <a:ext cx="4206240" cy="384048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491947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JDBC touchpoints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0688" y="5349240"/>
            <a:ext cx="38039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DriverManager.getConnection(URL, sa, "")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PreparedStatement + ResultSet mapping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try-with-resources everywhere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UI / UX — Login + 3 Role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3FF"/>
                </a:solidFill>
                <a:latin typeface="Calibri"/>
              </a:defRPr>
            </a:pPr>
            <a:r>
              <a:t>Aesthetic, responsive — role-color headers &amp; consistent cards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74320"/>
            <a:ext cx="2057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32918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47A1"/>
                </a:solidFill>
                <a:latin typeface="Calibri"/>
              </a:defRPr>
            </a:pPr>
            <a:r>
              <a:t>PS 51  •  Review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113842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Theme — UIStyle.java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384048" cy="164592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499616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Admin #0D47A1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481328"/>
            <a:ext cx="384048" cy="164592"/>
          </a:xfrm>
          <a:prstGeom prst="roundRect">
            <a:avLst/>
          </a:prstGeom>
          <a:solidFill>
            <a:srgbClr val="0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99616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Signer #0F6B3A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481328"/>
            <a:ext cx="384048" cy="164592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1499616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Reviewer #4C1D95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481328"/>
            <a:ext cx="384048" cy="16459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499616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Primary #1A73E8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81328"/>
            <a:ext cx="384048" cy="164592"/>
          </a:xfrm>
          <a:prstGeom prst="round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1499616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BG #F5F7FB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4813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Fonts: Segoe UI  •  Cards: rounded  •  Tables: header #EEF2FF, row 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1965960"/>
            <a:ext cx="2788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1965960"/>
            <a:ext cx="278892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0391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LoginFrame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468880"/>
            <a:ext cx="23865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Email + Password (demo hints visible)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AuthService.login() → role redirect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Enter key = login, errors inline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Footer: © GUVI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1965960"/>
            <a:ext cx="2788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37560" y="1965960"/>
            <a:ext cx="2788920" cy="38404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20391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Administrator (blue)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2468880"/>
            <a:ext cx="23865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Header: name + email + Logout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User Mgmt: table + Add/Edit/Delete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Access Control: cards + matrix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System: metrics + audit viewer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965960"/>
            <a:ext cx="2788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1965960"/>
            <a:ext cx="2788920" cy="384048"/>
          </a:xfrm>
          <a:prstGeom prst="roundRect">
            <a:avLst/>
          </a:prstGeom>
          <a:solidFill>
            <a:srgbClr val="0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0391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Signer (green)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2468880"/>
            <a:ext cx="23865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Document Signing: New + Sign → SIGNED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Signature Mgmt: templates CRUD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Signed Docs: signatures table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Hash + IP traceability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1965960"/>
            <a:ext cx="26060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89720" y="1965960"/>
            <a:ext cx="2606040" cy="384048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203911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Reviewer (purple)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2468880"/>
            <a:ext cx="22037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Doc Review: signed + reviews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View Sig Logs / Audit per doc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Review dialog: comments + status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Compliance: counts +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Rubric Mapping &amp; Live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3FF"/>
                </a:solidFill>
                <a:latin typeface="Calibri"/>
              </a:defRPr>
            </a:pPr>
            <a:r>
              <a:t>What Review 1 asks → where it is → how to check in 30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74320"/>
            <a:ext cx="2057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32918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47A1"/>
                </a:solidFill>
                <a:latin typeface="Calibri"/>
              </a:defRPr>
            </a:pPr>
            <a:r>
              <a:t>PS 51  •  Review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72237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Calibri"/>
              </a:defRPr>
            </a:pPr>
            <a:r>
              <a:t>Desktop track — 33 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Criterion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6276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47088"/>
            <a:ext cx="69494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2938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Calibri"/>
              </a:defRPr>
            </a:pPr>
            <a:r>
              <a:t>1  OOP (Poly / Inherit / Exceptions / Interfaces)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9293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9293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Auditable + BaseEntity + 6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359152"/>
            <a:ext cx="6949440" cy="420624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4144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Calibri"/>
              </a:defRPr>
            </a:pPr>
            <a:r>
              <a:t>2  Collections &amp; Generics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4414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4414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GenericDAO&lt;T,K&gt; + groupingBy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71216"/>
            <a:ext cx="69494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5351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Calibri"/>
              </a:defRPr>
            </a:pPr>
            <a:r>
              <a:t>3  Multithreading &amp;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9535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9535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AsyncExecutor + synchronized + 5-thread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383280"/>
            <a:ext cx="6949440" cy="420624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6557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Calibri"/>
              </a:defRPr>
            </a:pPr>
            <a:r>
              <a:t>4  Classes for DB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4655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4655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6 DAOs + 5 Services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95344"/>
            <a:ext cx="69494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9776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Calibri"/>
              </a:defRPr>
            </a:pPr>
            <a:r>
              <a:t>5  DB Connectivity (JDBC)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9776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977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DBUtil + DriverManager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407408"/>
            <a:ext cx="6949440" cy="420624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48970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Calibri"/>
              </a:defRPr>
            </a:pPr>
            <a:r>
              <a:t>6  JDBC schema + CRUD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4897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4897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DDL 6 tables + FK + ResultSet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1188720"/>
            <a:ext cx="3977639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18120" y="1188720"/>
            <a:ext cx="3977639" cy="384048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1000" y="1261872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Verify live (no installs)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1691640"/>
            <a:ext cx="357530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1) run.bat — compiles, opens Login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2) admin@... / admin123 → check tabs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3) alice@... → New Doc → Template → Sign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4) bob@... → Logs → Review → counts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5) test.bat → 15/15 OK (real H2 DB)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Docs: docs/0*.md  •  ER in 03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Switch DB: one constant in DBUtil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623560"/>
            <a:ext cx="11384280" cy="7772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7424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Thank you  —  ready for Review 1  •  Code quality: layered, commented, modular, tested  •  All deliverables included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57790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BFD3FF"/>
                </a:solidFill>
                <a:latin typeface="Calibri"/>
              </a:defRPr>
            </a:pPr>
            <a:r>
              <a:t>Submit: this PPTX + GitHub link (public)</a:t>
            </a:r>
            <a:br/>
            <a:r>
              <a:t>https://github.com/ankurrbpandey2006-cloud/Paperless-World-Project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